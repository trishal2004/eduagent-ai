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Host Grotesk"/>
      <p:regular r:id="rId201314"/>
    </p:embeddedFont>
    <p:embeddedFont>
      <p:font typeface="Host Grotesk Medium"/>
      <p:regular r:id="rId201315"/>
    </p:embeddedFont>
    <p:embeddedFont>
      <p:font typeface="Host Grotesk Bold"/>
      <p:regular r:id="rId201316"/>
    </p:embeddedFont>
    <p:embeddedFont>
      <p:font typeface="Roboto"/>
      <p:regular r:id="rId201317"/>
    </p:embeddedFont>
    <p:embeddedFont>
      <p:font typeface="Roboto Medium"/>
      <p:regular r:id="rId201318"/>
    </p:embeddedFont>
    <p:embeddedFont>
      <p:font typeface="Roboto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2500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1516112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Smart Farm Management Platform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614687"/>
            <a:ext cx="4722763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full-cycle agritech solution — from farmer onboarding to harvest profit analysis — powered by AI-driven insights and structured seasonal record-keeping.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411959"/>
            <a:ext cx="1311846" cy="215354"/>
          </a:xfrm>
          <a:prstGeom prst="roundRect">
            <a:avLst>
              <a:gd name="adj" fmla="val 22119"/>
            </a:avLst>
          </a:prstGeom>
          <a:solidFill>
            <a:srgbClr val="D9EDF2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454450"/>
            <a:ext cx="159893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AGRITECH PLATFORM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878806" y="3411959"/>
            <a:ext cx="829270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63862" y="3454450"/>
            <a:ext cx="111636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AI-POWERED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184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Onboarding: Registration &amp; Login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59247"/>
            <a:ext cx="5200278" cy="29251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2146" y="1005632"/>
            <a:ext cx="2670423" cy="313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Secure, role-based access for every user type on the platform.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2146" y="1423988"/>
            <a:ext cx="2670423" cy="100198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68703" y="1553394"/>
            <a:ext cx="235446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Farmer Registration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168703" y="1826865"/>
            <a:ext cx="2354461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Phone or email-based sign-up with OTP verification. Profile creation includes name, location, and contact details.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2146" y="2519511"/>
            <a:ext cx="2670423" cy="100198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68703" y="2648917"/>
            <a:ext cx="235446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Admin Portal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168703" y="2922389"/>
            <a:ext cx="2354461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Separate admin login for platform oversight — manage users, verify farm data, and monitor system health.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2146" y="3615035"/>
            <a:ext cx="2670423" cy="100198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68703" y="3744441"/>
            <a:ext cx="235446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Session Security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6168703" y="4017913"/>
            <a:ext cx="2354461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Token-based authentication with auto-expiry and password recovery flows built in from day one.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7500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25119" y="740792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Farmer Profile &amp; Farm Details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839367"/>
            <a:ext cx="472276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farmer gets a structured digital identity. Multiple farm lands are stored as separate records — each with its own location, size, and history.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424038"/>
            <a:ext cx="2290465" cy="1024756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71640" y="2570559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🧑‍🌾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Farmer Profile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71640" y="2877071"/>
            <a:ext cx="1997422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 info, contact, location, and farming experience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2424038"/>
            <a:ext cx="2290539" cy="1024756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03863" y="2570559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📍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Farm Land Records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03863" y="2877071"/>
            <a:ext cx="1997497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GPS coordinates, area (acres), soil type, and land history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590553"/>
            <a:ext cx="4722763" cy="812155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71640" y="3737074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🗂️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Multi-Farm Support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71640" y="4043586"/>
            <a:ext cx="4429720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farmer can own and manage multiple distinct farm parcels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943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Farming Seasons &amp; Soil Data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76785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Season-Wise Records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40000"/>
            <a:ext cx="3902943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growing season is created as a distinct record — keeping all activities, inputs, and outcomes isolated and traceable year over year.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776785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Soil Report Entry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140000"/>
            <a:ext cx="390294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Soil data fuels the AI crop recommendation engine. Farmers or agronomists input lab results directly into the platform.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250" y="3064743"/>
            <a:ext cx="212601" cy="2126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6816" y="3064818"/>
            <a:ext cx="2138437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season name, start &amp; end dates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5564" y="3064743"/>
            <a:ext cx="212601" cy="2126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33130" y="3064818"/>
            <a:ext cx="2138437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 season to specific farm land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01879" y="3064743"/>
            <a:ext cx="212601" cy="2126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09445" y="3064818"/>
            <a:ext cx="2138437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Carry forward historical data for trend analysis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96119" y="3649489"/>
            <a:ext cx="1931566" cy="514499"/>
          </a:xfrm>
          <a:prstGeom prst="roundRect">
            <a:avLst>
              <a:gd name="adj" fmla="val 11573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42640" y="3796010"/>
            <a:ext cx="16385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N, P, K Levels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2569443" y="3649489"/>
            <a:ext cx="1931640" cy="514499"/>
          </a:xfrm>
          <a:prstGeom prst="roundRect">
            <a:avLst>
              <a:gd name="adj" fmla="val 11573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715964" y="3796010"/>
            <a:ext cx="16385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Temperature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4642842" y="3649489"/>
            <a:ext cx="1931640" cy="514499"/>
          </a:xfrm>
          <a:prstGeom prst="roundRect">
            <a:avLst>
              <a:gd name="adj" fmla="val 11573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89363" y="3796010"/>
            <a:ext cx="16385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Humidity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716241" y="3649489"/>
            <a:ext cx="1931640" cy="514499"/>
          </a:xfrm>
          <a:prstGeom prst="roundRect">
            <a:avLst>
              <a:gd name="adj" fmla="val 11573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862763" y="3796010"/>
            <a:ext cx="16385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pH &amp; Texture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7500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25119" y="535484"/>
            <a:ext cx="4722763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AI Crop Recommendation Engine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925119" y="1613669"/>
            <a:ext cx="4722763" cy="415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platform recommends the best crop for each farm based on soil data, climate, and historical yield — using a two-tier ML strategy.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25119" y="2183383"/>
            <a:ext cx="4722763" cy="2424559"/>
          </a:xfrm>
          <a:prstGeom prst="roundRect">
            <a:avLst>
              <a:gd name="adj" fmla="val 2417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29881" y="2188146"/>
            <a:ext cx="2356619" cy="1420341"/>
          </a:xfrm>
          <a:custGeom>
            <a:avLst/>
            <a:gdLst/>
            <a:ahLst/>
            <a:cxnLst/>
            <a:rect l="l" t="t" r="r" b="b"/>
            <a:pathLst>
              <a:path w="2356619" h="1420341">
                <a:moveTo>
                  <a:pt x="48843" y="0"/>
                </a:moveTo>
                <a:lnTo>
                  <a:pt x="2356619" y="0"/>
                </a:lnTo>
                <a:lnTo>
                  <a:pt x="2356619" y="1420341"/>
                </a:lnTo>
                <a:lnTo>
                  <a:pt x="0" y="1420341"/>
                </a:lnTo>
                <a:lnTo>
                  <a:pt x="0" y="48843"/>
                </a:lnTo>
                <a:arcTo hR="48843" wR="48843" stAng="10800000" swAng="5400000"/>
                <a:close/>
              </a:path>
            </a:pathLst>
          </a:custGeom>
          <a:solidFill>
            <a:srgbClr val="D9EDF2"/>
          </a:solidFill>
          <a:ln/>
        </p:spPr>
      </p:sp>
      <p:sp>
        <p:nvSpPr>
          <p:cNvPr id="7" name="Text 4"/>
          <p:cNvSpPr/>
          <p:nvPr/>
        </p:nvSpPr>
        <p:spPr>
          <a:xfrm>
            <a:off x="4069407" y="2327672"/>
            <a:ext cx="207756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Step 1 — Train on Dataset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069407" y="2846115"/>
            <a:ext cx="2077566" cy="622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labeled regional crop-soil-yield datasets to train a custom recommendation model.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86500" y="2188146"/>
            <a:ext cx="2356619" cy="1420341"/>
          </a:xfrm>
          <a:custGeom>
            <a:avLst/>
            <a:gdLst/>
            <a:ahLst/>
            <a:cxnLst/>
            <a:rect l="l" t="t" r="r" b="b"/>
            <a:pathLst>
              <a:path w="2356619" h="1420341">
                <a:moveTo>
                  <a:pt x="0" y="0"/>
                </a:moveTo>
                <a:lnTo>
                  <a:pt x="2307776" y="0"/>
                </a:lnTo>
                <a:arcTo hR="48843" wR="48843" stAng="16200000" swAng="5400000"/>
                <a:lnTo>
                  <a:pt x="2356619" y="1420341"/>
                </a:lnTo>
                <a:lnTo>
                  <a:pt x="0" y="1420341"/>
                </a:lnTo>
                <a:lnTo>
                  <a:pt x="0" y="0"/>
                </a:lnTo>
                <a:close/>
              </a:path>
            </a:pathLst>
          </a:custGeom>
          <a:solidFill>
            <a:srgbClr val="D9EDF2"/>
          </a:solidFill>
          <a:ln/>
        </p:spPr>
      </p:sp>
      <p:sp>
        <p:nvSpPr>
          <p:cNvPr id="10" name="Shape 7"/>
          <p:cNvSpPr/>
          <p:nvPr/>
        </p:nvSpPr>
        <p:spPr>
          <a:xfrm>
            <a:off x="6286500" y="2188146"/>
            <a:ext cx="19050" cy="1420341"/>
          </a:xfrm>
          <a:prstGeom prst="roundRect">
            <a:avLst>
              <a:gd name="adj" fmla="val 50000"/>
            </a:avLst>
          </a:prstGeom>
          <a:solidFill>
            <a:srgbClr val="BFD3D8"/>
          </a:solidFill>
          <a:ln/>
        </p:spPr>
      </p:sp>
      <p:sp>
        <p:nvSpPr>
          <p:cNvPr id="11" name="Text 8"/>
          <p:cNvSpPr/>
          <p:nvPr/>
        </p:nvSpPr>
        <p:spPr>
          <a:xfrm>
            <a:off x="6426026" y="2327672"/>
            <a:ext cx="207756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Step 2 — Fine-Tune Pretrained Model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026" y="2846115"/>
            <a:ext cx="2077566" cy="622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data is insufficient, fine-tune an existing pretrained agricultural AI model for the local context.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29881" y="3608487"/>
            <a:ext cx="4713238" cy="994693"/>
          </a:xfrm>
          <a:custGeom>
            <a:avLst/>
            <a:gdLst/>
            <a:ahLst/>
            <a:cxnLst/>
            <a:rect l="l" t="t" r="r" b="b"/>
            <a:pathLst>
              <a:path w="4713238" h="994693">
                <a:moveTo>
                  <a:pt x="0" y="0"/>
                </a:moveTo>
                <a:lnTo>
                  <a:pt x="4713238" y="0"/>
                </a:lnTo>
                <a:lnTo>
                  <a:pt x="4713238" y="945850"/>
                </a:lnTo>
                <a:arcTo hR="48843" wR="48843" stAng="0" swAng="5400000"/>
                <a:lnTo>
                  <a:pt x="48843" y="994693"/>
                </a:lnTo>
                <a:arcTo hR="48843" wR="48843" stAng="5400000" swAng="5400000"/>
                <a:lnTo>
                  <a:pt x="0" y="0"/>
                </a:lnTo>
                <a:close/>
              </a:path>
            </a:pathLst>
          </a:custGeom>
          <a:solidFill>
            <a:srgbClr val="D9EDF2"/>
          </a:solidFill>
          <a:ln/>
        </p:spPr>
      </p:sp>
      <p:sp>
        <p:nvSpPr>
          <p:cNvPr id="14" name="Shape 11"/>
          <p:cNvSpPr/>
          <p:nvPr/>
        </p:nvSpPr>
        <p:spPr>
          <a:xfrm>
            <a:off x="3929881" y="3608487"/>
            <a:ext cx="4713238" cy="19050"/>
          </a:xfrm>
          <a:prstGeom prst="roundRect">
            <a:avLst>
              <a:gd name="adj" fmla="val 50000"/>
            </a:avLst>
          </a:prstGeom>
          <a:solidFill>
            <a:srgbClr val="BFD3D8"/>
          </a:solidFill>
          <a:ln/>
        </p:spPr>
      </p:sp>
      <p:sp>
        <p:nvSpPr>
          <p:cNvPr id="15" name="Text 12"/>
          <p:cNvSpPr/>
          <p:nvPr/>
        </p:nvSpPr>
        <p:spPr>
          <a:xfrm>
            <a:off x="4069407" y="3748013"/>
            <a:ext cx="443418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Step 3 — Deliver Recommendations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069407" y="4048423"/>
            <a:ext cx="4434185" cy="415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 ranked crop suggestions with confidence scores and expected yield ranges.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4813"/>
            <a:ext cx="8151763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Farm Activity Diary</a:t>
            </a:r>
            <a:endParaRPr lang="en-US" sz="1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60065"/>
            <a:ext cx="5234360" cy="29442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18895" y="2130698"/>
            <a:ext cx="2733675" cy="17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chronological log of every action taken on the farm — creating a complete, auditable cultivation history for each season.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496119" y="3779193"/>
            <a:ext cx="150614" cy="94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96119" y="3897660"/>
            <a:ext cx="4055864" cy="9525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7" name="Text 4"/>
          <p:cNvSpPr/>
          <p:nvPr/>
        </p:nvSpPr>
        <p:spPr>
          <a:xfrm>
            <a:off x="496119" y="3954363"/>
            <a:ext cx="4055864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Land Preparation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96119" y="4095973"/>
            <a:ext cx="4055864" cy="8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Tilling, leveling, bed formation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4591943" y="3779193"/>
            <a:ext cx="150614" cy="94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4591943" y="3897660"/>
            <a:ext cx="4055938" cy="9525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11" name="Text 8"/>
          <p:cNvSpPr/>
          <p:nvPr/>
        </p:nvSpPr>
        <p:spPr>
          <a:xfrm>
            <a:off x="4591943" y="3954363"/>
            <a:ext cx="4055938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Sowing &amp; Seeding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591943" y="4095973"/>
            <a:ext cx="4055938" cy="8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Seed variety, spacing, date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496119" y="4278883"/>
            <a:ext cx="150614" cy="94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496119" y="4389834"/>
            <a:ext cx="4055864" cy="9525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15" name="Text 12"/>
          <p:cNvSpPr/>
          <p:nvPr/>
        </p:nvSpPr>
        <p:spPr>
          <a:xfrm>
            <a:off x="496119" y="4454054"/>
            <a:ext cx="4055864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Irrigation Events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96119" y="4595664"/>
            <a:ext cx="4055864" cy="8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Method, duration, water source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4591943" y="4278883"/>
            <a:ext cx="150614" cy="94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04</a:t>
            </a:r>
            <a:endParaRPr lang="en-US" sz="550" dirty="0"/>
          </a:p>
        </p:txBody>
      </p:sp>
      <p:sp>
        <p:nvSpPr>
          <p:cNvPr id="18" name="Shape 15"/>
          <p:cNvSpPr/>
          <p:nvPr/>
        </p:nvSpPr>
        <p:spPr>
          <a:xfrm>
            <a:off x="4591943" y="4389834"/>
            <a:ext cx="4055938" cy="9525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19" name="Text 16"/>
          <p:cNvSpPr/>
          <p:nvPr/>
        </p:nvSpPr>
        <p:spPr>
          <a:xfrm>
            <a:off x="4591943" y="4454054"/>
            <a:ext cx="4055938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Inputs Applied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591943" y="4595664"/>
            <a:ext cx="4055938" cy="8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Fertilizer, pesticide, herbicide — type &amp; quantity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115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Expense Tracking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37655"/>
            <a:ext cx="815176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rupee spent on cultivation is captured and categorized — enabling accurate cost-of-production calculations and profit analysis at season close.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22326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353866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Seed &amp; Input Costs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660377"/>
            <a:ext cx="3987254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Seeds, fertilizers, pesticides, and soil amendments tracked per farm and season.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822326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0553" y="2353866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Irrigation &amp; Labor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60553" y="2660377"/>
            <a:ext cx="3987329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Water usage costs, pump electricity, and daily wage labor entries.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369097"/>
            <a:ext cx="354360" cy="35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900636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Equipment &amp; Operations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96119" y="4207148"/>
            <a:ext cx="3987254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rental, fuel, transport, and miscellaneous operational expenses.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369097"/>
            <a:ext cx="354360" cy="3543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0553" y="3900636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Season Summary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60553" y="4207148"/>
            <a:ext cx="3987329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Auto-aggregated total investment per season for instant cost visibility.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2803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Weather Advisory &amp; Yield Prediction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82291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🌦️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Weather Advisory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537692"/>
            <a:ext cx="3905696" cy="415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weather data via API helps farmers make smarter daily decisions.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6119" y="2107406"/>
            <a:ext cx="3905696" cy="732086"/>
          </a:xfrm>
          <a:prstGeom prst="roundRect">
            <a:avLst>
              <a:gd name="adj" fmla="val 8006"/>
            </a:avLst>
          </a:prstGeom>
          <a:solidFill>
            <a:srgbClr val="D9ED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645" y="2307282"/>
            <a:ext cx="174427" cy="1395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9598" y="2265834"/>
            <a:ext cx="3312691" cy="415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Smart Tip:</a:t>
            </a:r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If rain is forecasted tomorrow, the system advises skipping irrigation — saving water and cost.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96119" y="2993975"/>
            <a:ext cx="3905696" cy="718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24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Rainfall forecast &amp; alerts</a:t>
            </a:r>
            <a:endParaRPr lang="en-US" sz="1050" dirty="0"/>
          </a:p>
          <a:p>
            <a:pPr algn="l" marL="213360" indent="-213360">
              <a:lnSpc>
                <a:spcPct val="124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Temperature &amp; humidity trends</a:t>
            </a:r>
            <a:endParaRPr lang="en-US" sz="1050" dirty="0"/>
          </a:p>
          <a:p>
            <a:pPr algn="l" marL="213360" indent="-213360">
              <a:lnSpc>
                <a:spcPct val="124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Irrigation scheduling suggestions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746947" y="1182291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🌾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Yield Prediction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746947" y="1537692"/>
            <a:ext cx="3905696" cy="415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harvest, the platform estimates expected crop output using soil data, weather history, and activity logs.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96119" y="3915519"/>
            <a:ext cx="4007197" cy="825178"/>
          </a:xfrm>
          <a:prstGeom prst="roundRect">
            <a:avLst>
              <a:gd name="adj" fmla="val 7103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4695" y="4074096"/>
            <a:ext cx="36900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Input Factors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54695" y="4374505"/>
            <a:ext cx="3690045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Soil health, rainfall, crop type, farm history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40684" y="3915519"/>
            <a:ext cx="4007197" cy="825178"/>
          </a:xfrm>
          <a:prstGeom prst="roundRect">
            <a:avLst>
              <a:gd name="adj" fmla="val 7103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99261" y="4074096"/>
            <a:ext cx="369004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Output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799261" y="4374505"/>
            <a:ext cx="3690045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Estimated yield in kg/acre with confidence range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7500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25119" y="52819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Harvest Details &amp; Profit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626766"/>
            <a:ext cx="472276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the season ends, the platform turns raw data into financial clarity — from harvest logging to final profit calculation.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211437"/>
            <a:ext cx="2290465" cy="1237357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71640" y="2357958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Harvest Logging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71640" y="2664470"/>
            <a:ext cx="1997422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Record total yield quantity, harvest date, and crop grade per farm land.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2211437"/>
            <a:ext cx="2290539" cy="1237357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03863" y="2357958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💰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Price &amp; Sales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03863" y="2664470"/>
            <a:ext cx="1997497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selling price per unit, track buyer info, and log total revenue earned.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590553"/>
            <a:ext cx="4722763" cy="1024756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71640" y="3737074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Profit Analysis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71640" y="4043586"/>
            <a:ext cx="4429720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Auto-calculated profit = Revenue − Total Expenses. Viewable per season, per farm, or aggregated.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Dashboard &amp; Season History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235324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Your Farm, At a Glance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387203"/>
            <a:ext cx="4443933" cy="83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dashboard is the command center — surfacing the most critical insights across all farms and seasons in one view.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504108"/>
            <a:ext cx="3986733" cy="371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95000"/>
              </a:lnSpc>
              <a:buSzPct val="100000"/>
              <a:buChar char="•"/>
            </a:pPr>
            <a:r>
              <a:rPr lang="en-US" sz="5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Season History:</a:t>
            </a:r>
            <a:pPr algn="l" marL="111760" indent="-111760">
              <a:lnSpc>
                <a:spcPct val="95000"/>
              </a:lnSpc>
              <a:buSzPct val="100000"/>
              <a:buChar char="•"/>
            </a:pPr>
            <a:r>
              <a:rPr lang="en-US" sz="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Multi-year records for trend analysis and decision support</a:t>
            </a:r>
            <a:endParaRPr lang="en-US" sz="550" dirty="0"/>
          </a:p>
          <a:p>
            <a:pPr algn="l" marL="111760" indent="-111760">
              <a:lnSpc>
                <a:spcPct val="95000"/>
              </a:lnSpc>
              <a:buSzPct val="100000"/>
              <a:buChar char="•"/>
            </a:pPr>
            <a:r>
              <a:rPr lang="en-US" sz="5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Quick Reports:</a:t>
            </a:r>
            <a:pPr algn="l" marL="111760" indent="-111760">
              <a:lnSpc>
                <a:spcPct val="95000"/>
              </a:lnSpc>
              <a:buSzPct val="100000"/>
              <a:buChar char="•"/>
            </a:pPr>
            <a:r>
              <a:rPr lang="en-US" sz="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Exportable summaries of expenses, yield, and profit per season</a:t>
            </a:r>
            <a:endParaRPr lang="en-US" sz="550" dirty="0"/>
          </a:p>
          <a:p>
            <a:pPr algn="l" marL="111760" indent="-111760">
              <a:lnSpc>
                <a:spcPct val="95000"/>
              </a:lnSpc>
              <a:buSzPct val="100000"/>
              <a:buChar char="•"/>
            </a:pPr>
            <a:r>
              <a:rPr lang="en-US" sz="5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Alerts Panel:</a:t>
            </a:r>
            <a:pPr algn="l" marL="111760" indent="-111760">
              <a:lnSpc>
                <a:spcPct val="95000"/>
              </a:lnSpc>
              <a:buSzPct val="100000"/>
              <a:buChar char="•"/>
            </a:pPr>
            <a:r>
              <a:rPr lang="en-US" sz="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Weather warnings, upcoming tasks, and data gaps flagged proactively</a:t>
            </a:r>
            <a:endParaRPr lang="en-US" sz="550" dirty="0"/>
          </a:p>
          <a:p>
            <a:pPr algn="l" marL="111760" indent="-111760">
              <a:lnSpc>
                <a:spcPct val="95000"/>
              </a:lnSpc>
              <a:buSzPct val="100000"/>
              <a:buChar char="•"/>
            </a:pPr>
            <a:r>
              <a:rPr lang="en-US" sz="5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Performance Trends:</a:t>
            </a:r>
            <a:pPr algn="l" marL="111760" indent="-111760">
              <a:lnSpc>
                <a:spcPct val="95000"/>
              </a:lnSpc>
              <a:buSzPct val="100000"/>
              <a:buChar char="•"/>
            </a:pPr>
            <a:r>
              <a:rPr lang="en-US" sz="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Visual charts comparing yield and profit across seasons</a:t>
            </a:r>
            <a:endParaRPr lang="en-US" sz="550" dirty="0"/>
          </a:p>
        </p:txBody>
      </p:sp>
      <p:sp>
        <p:nvSpPr>
          <p:cNvPr id="7" name="Shape 4"/>
          <p:cNvSpPr/>
          <p:nvPr/>
        </p:nvSpPr>
        <p:spPr>
          <a:xfrm>
            <a:off x="4665911" y="2918147"/>
            <a:ext cx="3986733" cy="270272"/>
          </a:xfrm>
          <a:prstGeom prst="roundRect">
            <a:avLst>
              <a:gd name="adj" fmla="val 11359"/>
            </a:avLst>
          </a:prstGeom>
          <a:solidFill>
            <a:srgbClr val="B6FCB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985" y="3009454"/>
            <a:ext cx="91306" cy="730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03366" y="2970237"/>
            <a:ext cx="3676204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season's data compounds — the longer a farmer uses the platform, the smarter and more valuable it becomes.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2026-08-05T04:17:50Z</dcterms:created>
  <dcterms:modified xsi:type="dcterms:W3CDTF">2026-08-05T04:17:50Z</dcterms:modified>
</cp:coreProperties>
</file>